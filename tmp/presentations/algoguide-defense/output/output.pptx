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7c613c935d4ad5" /><Relationship Type="http://schemas.openxmlformats.org/officeDocument/2006/relationships/extended-properties" Target="/docProps/app.xml" Id="R328ac765dc8b48d6" /><Relationship Type="http://schemas.openxmlformats.org/officeDocument/2006/relationships/officeDocument" Target="/ppt/presentation.xml" Id="R1c990aa3614c48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36071f53594f0b"/>
  </p:sldMasterIdLst>
  <p:notesMasterIdLst>
    <p:notesMasterId xmlns:r="http://schemas.openxmlformats.org/officeDocument/2006/relationships" r:id="Re09ba784665243eb"/>
  </p:notesMasterIdLst>
  <p:sldIdLst>
    <p:sldId xmlns:r="http://schemas.openxmlformats.org/officeDocument/2006/relationships" id="256" r:id="Rd1523e700876418a"/>
    <p:sldId xmlns:r="http://schemas.openxmlformats.org/officeDocument/2006/relationships" id="257" r:id="Redbbe5cf55a84cdd"/>
    <p:sldId xmlns:r="http://schemas.openxmlformats.org/officeDocument/2006/relationships" id="258" r:id="R1a6c4f63364249b1"/>
    <p:sldId xmlns:r="http://schemas.openxmlformats.org/officeDocument/2006/relationships" id="259" r:id="R0359c343fc4a4ccc"/>
    <p:sldId xmlns:r="http://schemas.openxmlformats.org/officeDocument/2006/relationships" id="260" r:id="R8a096d65e89346a3"/>
    <p:sldId xmlns:r="http://schemas.openxmlformats.org/officeDocument/2006/relationships" id="261" r:id="Rc4be3206fe124251"/>
    <p:sldId xmlns:r="http://schemas.openxmlformats.org/officeDocument/2006/relationships" id="262" r:id="R9e4ade6a07da495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6071f53594f0b" /><Relationship Type="http://schemas.openxmlformats.org/officeDocument/2006/relationships/theme" Target="/ppt/theme/theme1.xml" Id="R4a41f9d1691b4f75" /><Relationship Type="http://schemas.openxmlformats.org/officeDocument/2006/relationships/notesMaster" Target="/ppt/notesMasters/notesMaster1.xml" Id="Re09ba784665243eb" /><Relationship Type="http://schemas.openxmlformats.org/officeDocument/2006/relationships/presProps" Target="/ppt/presProps.xml" Id="R19d2e200676e4bb7" /><Relationship Type="http://schemas.openxmlformats.org/officeDocument/2006/relationships/viewProps" Target="/ppt/viewProps.xml" Id="Rffa6633d0c934b08" /><Relationship Type="http://schemas.openxmlformats.org/officeDocument/2006/relationships/tableStyles" Target="/ppt/tableStyles.xml" Id="Ra877d66f7aff4cb1" /><Relationship Type="http://schemas.openxmlformats.org/officeDocument/2006/relationships/slide" Target="/ppt/slides/slide1.xml" Id="Rd1523e700876418a" /><Relationship Type="http://schemas.openxmlformats.org/officeDocument/2006/relationships/slide" Target="/ppt/slides/slide2.xml" Id="Redbbe5cf55a84cdd" /><Relationship Type="http://schemas.openxmlformats.org/officeDocument/2006/relationships/slide" Target="/ppt/slides/slide3.xml" Id="R1a6c4f63364249b1" /><Relationship Type="http://schemas.openxmlformats.org/officeDocument/2006/relationships/slide" Target="/ppt/slides/slide4.xml" Id="R0359c343fc4a4ccc" /><Relationship Type="http://schemas.openxmlformats.org/officeDocument/2006/relationships/slide" Target="/ppt/slides/slide5.xml" Id="R8a096d65e89346a3" /><Relationship Type="http://schemas.openxmlformats.org/officeDocument/2006/relationships/slide" Target="/ppt/slides/slide6.xml" Id="Rc4be3206fe124251" /><Relationship Type="http://schemas.openxmlformats.org/officeDocument/2006/relationships/slide" Target="/ppt/slides/slide7.xml" Id="R9e4ade6a07da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d0d6a72008047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cf5d40cf9447e" /><Relationship Type="http://schemas.openxmlformats.org/officeDocument/2006/relationships/notesMaster" Target="/ppt/notesMasters/notesMaster1.xml" Id="R59efb92709a54d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2fc378a974b57" /><Relationship Type="http://schemas.openxmlformats.org/officeDocument/2006/relationships/notesMaster" Target="/ppt/notesMasters/notesMaster1.xml" Id="R8d97257a5483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ca1601aa74a4a" /><Relationship Type="http://schemas.openxmlformats.org/officeDocument/2006/relationships/notesMaster" Target="/ppt/notesMasters/notesMaster1.xml" Id="R198374de4615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dc22c5867f44b3" /><Relationship Type="http://schemas.openxmlformats.org/officeDocument/2006/relationships/notesMaster" Target="/ppt/notesMasters/notesMaster1.xml" Id="R5b2285a7107445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12a46bc47c41c9" /><Relationship Type="http://schemas.openxmlformats.org/officeDocument/2006/relationships/notesMaster" Target="/ppt/notesMasters/notesMaster1.xml" Id="R13f8bde5df5e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16abef64dc400f" /><Relationship Type="http://schemas.openxmlformats.org/officeDocument/2006/relationships/notesMaster" Target="/ppt/notesMasters/notesMaster1.xml" Id="R82cd19e46dd541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bc36bf31574340" /><Relationship Type="http://schemas.openxmlformats.org/officeDocument/2006/relationships/notesMaster" Target="/ppt/notesMasters/notesMaster1.xml" Id="R7560c6eb776446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359056e6944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5775b49fcc4c17" /><Relationship Type="http://schemas.openxmlformats.org/officeDocument/2006/relationships/slideLayout" Target="/ppt/slideLayouts/slideLayout2.xml" Id="R43a008e2785842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a008e2785842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76b29d050400e" /><Relationship Type="http://schemas.openxmlformats.org/officeDocument/2006/relationships/notesSlide" Target="/ppt/notesSlides/notesSlide1.xml" Id="R074a5a79a34d43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ef69e72a349a5" /><Relationship Type="http://schemas.openxmlformats.org/officeDocument/2006/relationships/notesSlide" Target="/ppt/notesSlides/notesSlide2.xml" Id="Rb38a843ae331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ace9130d74d32" /><Relationship Type="http://schemas.openxmlformats.org/officeDocument/2006/relationships/notesSlide" Target="/ppt/notesSlides/notesSlide3.xml" Id="R0a0a02da31a442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0a38ce88aa4ba6" /><Relationship Type="http://schemas.openxmlformats.org/officeDocument/2006/relationships/notesSlide" Target="/ppt/notesSlides/notesSlide4.xml" Id="Ra2fc05b7627e44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76e03c45cf4d78" /><Relationship Type="http://schemas.openxmlformats.org/officeDocument/2006/relationships/notesSlide" Target="/ppt/notesSlides/notesSlide5.xml" Id="Re860441e1287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eefadc8314ee6" /><Relationship Type="http://schemas.openxmlformats.org/officeDocument/2006/relationships/notesSlide" Target="/ppt/notesSlides/notesSlide6.xml" Id="Rcab54782c4a9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d5332d4f14e80" /><Relationship Type="http://schemas.openxmlformats.org/officeDocument/2006/relationships/notesSlide" Target="/ppt/notesSlides/notesSlide7.xml" Id="Rc7ab655868424f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7374B-17D7-4E4B-A57C-70334DD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-11430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F5E23-4A1D-406D-9037-6B0CDFCA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80010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3D1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33BAC-9F32-44B4-BE91-2A692E32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BE9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893F1-4E12-424B-8C9B-015F9C9E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CAE30-E874-4168-94BA-6BC6EF21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7429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AlgoGuide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C271B-8677-4C4A-B09E-8577348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6096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面向算法学习场景的 AI 助手原型</a:t>
            </a:r>
          </a:p>
          <a:p xmlns:a="http://schemas.openxmlformats.org/drawingml/2006/main">
            <a:pPr algn="l">
              <a:defRPr sz="19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把提问、检索、生成和保存会话串成一条完整链路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7AA3A-774E-468A-9953-66243B40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2573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8E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8A8A0-DBA1-476B-91F7-F2D2CB0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语义检索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F0BCC-8849-4E17-B84A-F85C358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19550"/>
            <a:ext cx="12573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E0D6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874FD-255E-4147-85F4-FBFAA7F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386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流式回答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C7AC3-D5A0-424D-808D-0ED47D4A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9550"/>
            <a:ext cx="12573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8E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CE4D1-EEC6-42EB-81A8-2D72DC1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会话保存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7208E-3CE8-421F-AE1D-088CB752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一个可跑通的算法学习助手 MVP。</a:t>
            </a:r>
          </a:p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适合简历展示，也适合答辩演示。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0B050-B285-4C50-8FAE-D38E9D2B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009650"/>
            <a:ext cx="8401050" cy="796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B1A"/>
          </a:solidFill>
          <a:ln xmlns:a="http://schemas.openxmlformats.org/drawingml/2006/main" w="9525">
            <a:solidFill>
              <a:srgbClr val="2B43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D19EB-7620-4B37-8567-A501C6C2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76350"/>
            <a:ext cx="78676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2724"/>
          </a:solidFill>
          <a:ln xmlns:a="http://schemas.openxmlformats.org/drawingml/2006/main" w="9525">
            <a:solidFill>
              <a:srgbClr val="2741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135F9-F034-405E-9A1E-9089E0F4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62075"/>
            <a:ext cx="238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DE8DD"/>
                </a:solidFill>
                <a:latin typeface="Microsoft YaHei"/>
                <a:ea typeface="Microsoft YaHei"/>
                <a:cs typeface="Microsoft YaHei"/>
              </a:rPr>
              <a:t>AlgoGuide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A18D4-AC7A-417E-8399-D96C7390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333500"/>
            <a:ext cx="9144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8E72"/>
          </a:solidFill>
          <a:ln xmlns:a="http://schemas.openxmlformats.org/drawingml/2006/main" w="9525">
            <a:solidFill>
              <a:srgbClr val="1A8E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E0E60-C804-4C0B-A930-5ABAA8C9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35255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已就绪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65422-A599-4D3F-BA19-05EBFB3E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381250" cy="6896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23"/>
          </a:solidFill>
          <a:ln xmlns:a="http://schemas.openxmlformats.org/drawingml/2006/main" w="9525">
            <a:solidFill>
              <a:srgbClr val="2D4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03BBE-41BE-453B-A19A-7F687B19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FA192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7FA192"/>
                </a:solidFill>
                <a:latin typeface="Consolas"/>
                <a:ea typeface="Consolas"/>
                <a:cs typeface="Consolas"/>
              </a:rPr>
              <a:t>Recent chats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FDED7-2987-4754-A1FB-79C6A5A5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1943100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3730"/>
          </a:solidFill>
          <a:ln xmlns:a="http://schemas.openxmlformats.org/drawingml/2006/main" w="9525">
            <a:solidFill>
              <a:srgbClr val="3A61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1E4CB-E540-4782-BFC7-95108D1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7E409-7201-4A21-BA1E-9C6B957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F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2F7F4"/>
                </a:solidFill>
                <a:latin typeface="Microsoft YaHei"/>
                <a:ea typeface="Microsoft YaHei"/>
                <a:cs typeface="Microsoft YaHei"/>
              </a:rPr>
              <a:t>动态规划入门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E283A-3EC0-4CB3-BF13-5D8D2E4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A29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8BA29A"/>
                </a:solidFill>
                <a:latin typeface="Consolas"/>
                <a:ea typeface="Consolas"/>
                <a:cs typeface="Consolas"/>
              </a:rPr>
              <a:t>今天 10:22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A2009-8CFF-4A6D-B064-B82EC38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1943100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20"/>
          </a:solidFill>
          <a:ln xmlns:a="http://schemas.openxmlformats.org/drawingml/2006/main" w="9525">
            <a:solidFill>
              <a:srgbClr val="2232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42B4A-91DB-4BE4-9C7C-3BF98FFB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D76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67430-03EF-4028-913F-062329A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F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2F7F4"/>
                </a:solidFill>
                <a:latin typeface="Microsoft YaHei"/>
                <a:ea typeface="Microsoft YaHei"/>
                <a:cs typeface="Microsoft YaHei"/>
              </a:rPr>
              <a:t>图论 BFS/DFS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73F70-28F3-4C3D-9E2C-99E34BFF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A29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8BA29A"/>
                </a:solidFill>
                <a:latin typeface="Consolas"/>
                <a:ea typeface="Consolas"/>
                <a:cs typeface="Consolas"/>
              </a:rPr>
              <a:t>今天 09:41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A76E4-553B-4DFF-930A-6C8FE5D2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FA192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7FA192"/>
                </a:solidFill>
                <a:latin typeface="Consolas"/>
                <a:ea typeface="Consolas"/>
                <a:cs typeface="Consolas"/>
              </a:rPr>
              <a:t>Shortcuts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D6432-3E61-4344-9DDF-14506309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67300"/>
            <a:ext cx="19431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20"/>
          </a:solidFill>
          <a:ln xmlns:a="http://schemas.openxmlformats.org/drawingml/2006/main" w="9525">
            <a:solidFill>
              <a:srgbClr val="2232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A2200-62D1-4897-BB4D-BDB3C2B7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8160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E6EF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6EFEA"/>
                </a:solidFill>
                <a:latin typeface="Microsoft YaHei"/>
                <a:ea typeface="Microsoft YaHei"/>
                <a:cs typeface="Microsoft YaHei"/>
              </a:rPr>
              <a:t>C++ 动态规划例题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A79B5-AC73-43A4-950C-D07F3DF7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86450"/>
            <a:ext cx="19431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20"/>
          </a:solidFill>
          <a:ln xmlns:a="http://schemas.openxmlformats.org/drawingml/2006/main" w="9525">
            <a:solidFill>
              <a:srgbClr val="2232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A9BD40-FDA8-4EB0-A97B-75629DDB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00075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E6EF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6EFEA"/>
                </a:solidFill>
                <a:latin typeface="Microsoft YaHei"/>
                <a:ea typeface="Microsoft YaHei"/>
                <a:cs typeface="Microsoft YaHei"/>
              </a:rPr>
              <a:t>把答案讲简单一点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E795C0-C377-4461-B47C-31925AAF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809750"/>
            <a:ext cx="5257800" cy="6896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715"/>
          </a:solidFill>
          <a:ln xmlns:a="http://schemas.openxmlformats.org/drawingml/2006/main" w="9525">
            <a:solidFill>
              <a:srgbClr val="23363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A5E376-EC3C-4CA0-81E7-4D88177E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0383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1AC9F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91AC9F"/>
                </a:solidFill>
                <a:latin typeface="Consolas"/>
                <a:ea typeface="Consolas"/>
                <a:cs typeface="Consolas"/>
              </a:rPr>
              <a:t>Chat / 检索 / 保存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8A7FD-9789-4BD4-876C-C4A3C64F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3431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F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1F7F4"/>
                </a:solidFill>
                <a:latin typeface="Microsoft YaHei"/>
                <a:ea typeface="Microsoft YaHei"/>
                <a:cs typeface="Microsoft YaHei"/>
              </a:rPr>
              <a:t>算法学习助手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F9864-D27F-4D5F-A54E-C24E1A2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860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F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7BFB1"/>
                </a:solidFill>
                <a:latin typeface="Microsoft YaHei"/>
                <a:ea typeface="Microsoft YaHei"/>
                <a:cs typeface="Microsoft YaHei"/>
              </a:rPr>
              <a:t>面向真实答辩场景的对话页面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5A5AF7-ABB6-4D97-BAE6-9ED70A00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962150"/>
            <a:ext cx="5143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E8D8"/>
          </a:solidFill>
          <a:ln xmlns:a="http://schemas.openxmlformats.org/drawingml/2006/main" w="9525">
            <a:solidFill>
              <a:srgbClr val="F2D0B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DF95F8-78E0-4150-92B1-68092184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9812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09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E09A53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DBB31F-6C17-4441-8612-04E4588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105150"/>
            <a:ext cx="36195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2638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8ED137-E4E7-4DB7-B787-814B348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194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7D2C4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B7D2C4"/>
                </a:solidFill>
                <a:latin typeface="Consolas"/>
                <a:ea typeface="Consolas"/>
                <a:cs typeface="Consolas"/>
              </a:rPr>
              <a:t>知识库：本地算法知识库 · RAG 已启用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1BB852-9331-4FB8-8C5C-AB0FDE4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733800"/>
            <a:ext cx="3238500" cy="1123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2724"/>
          </a:solidFill>
          <a:ln xmlns:a="http://schemas.openxmlformats.org/drawingml/2006/main" w="9525">
            <a:solidFill>
              <a:srgbClr val="2A3C3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393B26-FD6F-4378-8ACF-23857B3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905250"/>
            <a:ext cx="2857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我想复习一下动态规划，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最好能给我一个能直接上手的题目。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76CE99-39D4-4D0C-9587-DFC63A2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181600"/>
            <a:ext cx="367665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8E72"/>
          </a:solidFill>
          <a:ln xmlns:a="http://schemas.openxmlformats.org/drawingml/2006/main" w="9525">
            <a:solidFill>
              <a:srgbClr val="1A8E7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CDE1EE-54E8-4337-93D6-CFAAE94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37210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会先检索本地知识库，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如果命中，就把相关片段拼进 prompt。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如果模型不可用，也会回退到本地回答。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921D68-ADCE-4C0B-889E-9B51E88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972300"/>
            <a:ext cx="1143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BFE1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E34E1B-996C-4093-9734-16479B6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9913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本地检索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C06BE9-0E9B-494E-8CD5-97BF269D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972300"/>
            <a:ext cx="1143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0EC"/>
          </a:solidFill>
          <a:ln xmlns:a="http://schemas.openxmlformats.org/drawingml/2006/main" w="9525">
            <a:solidFill>
              <a:srgbClr val="D3DE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0D995E-189D-46D9-B9F6-C8B648E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9913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流式输出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047CF3-6E4D-4BEE-A7E4-9E98CB3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972300"/>
            <a:ext cx="120015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E1D6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0392F2-66BD-42C3-8190-C3CFB7E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9913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自动保存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97E647-3B58-4645-B9EF-B7CCB789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7429500"/>
            <a:ext cx="409575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521"/>
          </a:solidFill>
          <a:ln xmlns:a="http://schemas.openxmlformats.org/drawingml/2006/main" w="9525">
            <a:solidFill>
              <a:srgbClr val="2D413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943B8A-66BF-40B8-A907-64EF2CFF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60095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6C857D"/>
                </a:solidFill>
                <a:latin typeface="Consolas"/>
                <a:ea typeface="Consolas"/>
                <a:cs typeface="Consolas"/>
              </a:defRPr>
            </a:pPr>
            <a:r>
              <a:rPr sz="1350" b="0" i="1">
                <a:solidFill>
                  <a:srgbClr val="6C857D"/>
                </a:solidFill>
                <a:latin typeface="Consolas"/>
                <a:ea typeface="Consolas"/>
                <a:cs typeface="Consolas"/>
              </a:rPr>
              <a:t>Message AlgoGuide...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7B693C-E721-4A02-9855-E903FAF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7562850"/>
            <a:ext cx="285750" cy="28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8E72"/>
          </a:solidFill>
          <a:ln xmlns:a="http://schemas.openxmlformats.org/drawingml/2006/main" w="9525">
            <a:solidFill>
              <a:srgbClr val="1A8E7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D5A3D8-45A3-4323-AA16-C5E98B79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7581900"/>
            <a:ext cx="28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2F66BC-486F-4F4B-B945-ACF1E3DB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9165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958F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8A958F"/>
                </a:solidFill>
                <a:latin typeface="Consolas"/>
                <a:ea typeface="Consolas"/>
                <a:cs typeface="Consolas"/>
              </a:rPr>
              <a:t>AlgoGuide Agent · 答辩展示版</a:t>
            </a:r>
          </a:p>
        </p:txBody>
      </p:sp>
    </p:spTree>
    <p:extLst>
      <p:ext uri="{BB962C8B-B14F-4D97-AF65-F5344CB8AC3E}">
        <p14:creationId xmlns:p14="http://schemas.microsoft.com/office/powerpoint/2010/main" val="1709773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4D21E-8E5C-4977-95C6-17401739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01 /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1C0C4-116D-4FAF-B5DF-A6ABA3C2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19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算法问答的难点，</a:t>
            </a:r>
          </a:p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不在“回答”，而在“持续回答得对”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D06A5-6550-41C8-90AD-CBAF8A3E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14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算法学习不是一次性问答，用户会不断追问、补问和换个角度问，所以系统必须把检索、生成、历史和兜底放在一起。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010BA-D563-42E5-B6A6-38713D8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三个真实痛点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7B68C-1774-4D37-BE64-341F2B58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429500" cy="1028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69083-D6A4-4D30-AE19-DF38A8DC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2FDCB-EDF5-4179-8194-802F79DD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EE765-FA56-44DB-864E-6F14E9E5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95750"/>
            <a:ext cx="609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问题表达常常是口语化的，</a:t>
            </a:r>
          </a:p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仅靠关键词命中不够准。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61A61-989B-40A3-AC3C-7A3C5315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7429500" cy="1028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DF8B3-4723-43C2-9ADE-F8EF1C0A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7D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EFCC2-BDD4-4247-849D-F7476D0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673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C45F9-9038-40B6-B850-AC6ACBC0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53050"/>
            <a:ext cx="609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追问时如果丢上下文，</a:t>
            </a:r>
          </a:p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答案就会开始跑偏。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EAA20-734D-429B-BBC9-294F3B3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7429500" cy="1028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D2BB0-9C8A-4DA9-A382-738151AA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66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8D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1409B-FF67-492E-AE65-3A0CA40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724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09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09A5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05AD1-82E5-488B-A38A-2F760FD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610350"/>
            <a:ext cx="609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模型接口不稳定时，</a:t>
            </a:r>
          </a:p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页面不能直接失效。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7377A-0C83-4BAF-8D03-1D65C5D0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8039100" cy="445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201D"/>
          </a:solidFill>
          <a:ln xmlns:a="http://schemas.openxmlformats.org/drawingml/2006/main" w="9525">
            <a:solidFill>
              <a:srgbClr val="2A4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0A817-E5F6-41EC-BEF9-DBF38DAB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04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9C7B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A9C7BB"/>
                </a:solidFill>
                <a:latin typeface="Consolas"/>
                <a:ea typeface="Consolas"/>
                <a:cs typeface="Consolas"/>
              </a:rPr>
              <a:t>项目目标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2A0DF-19C7-4D83-BD20-AFF19F00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68961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把“能答”变成“能持续答对”。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让系统在算法学习场景里同时具备检索准确性、对话连续性和服务稳定性。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4A332-E4BF-40FD-8E57-3437A6C1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81600"/>
            <a:ext cx="670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43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3EE30-06D8-4FA8-9BDA-B7B1EDF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48300"/>
            <a:ext cx="12192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8E72"/>
          </a:solidFill>
          <a:ln xmlns:a="http://schemas.openxmlformats.org/drawingml/2006/main" w="9525">
            <a:solidFill>
              <a:srgbClr val="1A8E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5A043-015A-4466-9EE5-0A6F82E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67350"/>
            <a:ext cx="121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检索更准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EBF73-112B-4D21-89EF-50D49F8C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448300"/>
            <a:ext cx="12192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EFE9"/>
          </a:solidFill>
          <a:ln xmlns:a="http://schemas.openxmlformats.org/drawingml/2006/main" w="9525">
            <a:solidFill>
              <a:srgbClr val="C9DD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37F14-6D65-48FE-9AB3-082CF002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467350"/>
            <a:ext cx="121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回答更顺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47C21-0467-4F3A-97CC-2532EE1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448300"/>
            <a:ext cx="1219200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E8D8"/>
          </a:solidFill>
          <a:ln xmlns:a="http://schemas.openxmlformats.org/drawingml/2006/main" w="9525">
            <a:solidFill>
              <a:srgbClr val="E7C7A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AF1E7-EAFD-4D5F-8E44-1B3EB26F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467350"/>
            <a:ext cx="121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09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09A53"/>
                </a:solidFill>
                <a:latin typeface="Microsoft YaHei"/>
                <a:ea typeface="Microsoft YaHei"/>
                <a:cs typeface="Microsoft YaHei"/>
              </a:rPr>
              <a:t>系统更稳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56906-0669-48AC-9590-15A3D74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191250"/>
            <a:ext cx="67056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7E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D7E7E0"/>
                </a:solidFill>
                <a:latin typeface="Microsoft YaHei"/>
                <a:ea typeface="Microsoft YaHei"/>
                <a:cs typeface="Microsoft YaHei"/>
              </a:rPr>
              <a:t>所以我没有只做一个聊天页面，而是把“提问 - 检索 - 生成 - 保存会话”整条链路一起做出来。</a:t>
            </a:r>
          </a:p>
        </p:txBody>
      </p:sp>
    </p:spTree>
    <p:extLst>
      <p:ext uri="{BB962C8B-B14F-4D97-AF65-F5344CB8AC3E}">
        <p14:creationId xmlns:p14="http://schemas.microsoft.com/office/powerpoint/2010/main" val="1305780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3C224-B10B-4316-87BE-F4BE8AED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02 /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CA231-A4B2-44BE-8962-6482E4E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19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一条完整链路：</a:t>
            </a:r>
          </a:p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先检索，再生成，最后保存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20CE3-ADF0-4CA1-BE02-2DBAFFAC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14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如果只做聊天，项目会很像一个空壳；把检索、流式生成和会话保存连起来，才有“助手”的完整感。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4E935-99F2-4ACB-A2B8-1A0E165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3429000" cy="1562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96686-DB9D-4D60-A0FF-12454D14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D6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65137-E675-4D88-B610-D054BD48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9BC01-5D38-49E2-BDB3-2C658B1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710EF-D2CA-4904-B417-88C12607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用户提问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0865C-14B4-41E8-AF1F-6107A9FE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在网页中输入自然语言问题。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0D319-B085-463F-A935-DFA86737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9582B-09EE-4B2E-9474-3CB31BDE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D993A-AF4D-4363-9B68-FB70DEB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3429000" cy="1562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E343-51FB-46AD-8223-DC34B95A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195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01A38-27F1-485D-B629-6CB3D7A2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04D66-1FAC-41A9-9DF1-D17AABFD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40B08-31C1-4F20-A75E-64C007D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005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本地知识检索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486DE-D7C7-454D-A69D-6639CE4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148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优先从算法知识库里找相关片段。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9A8D9-8075-4980-88F6-F6599189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91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7DACB-C5D3-4441-84D7-70B0B9DC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148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E450A-487D-4532-8522-2CE391CD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3429000" cy="1562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0882D-5B74-4E2A-840D-41369C4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EBB8A-5A3D-4AD7-BDDA-4EE29260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DA0D9-7845-49F0-8D6C-36BE3099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29B7D-DDE0-4DFA-9298-8332109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模型生成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9A09C-7BF4-4A63-A98E-4E43199F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148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把检索结果拼进 prompt 再发给模型。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AE99B-55A9-401B-91E9-A5CE2EF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591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5371A-B270-44E2-A6E5-23C0807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5148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39E5B-E995-4E77-947C-C8697914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810000"/>
            <a:ext cx="3429000" cy="1562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9609E-AD29-463F-A619-CD590DC2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0195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D64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8F18D-99F6-4B2D-AF27-96869237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7E1D2-00C8-4D65-BE06-11F52263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0957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43BF0-8CD4-4157-BD44-E291C6EF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0005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会话保存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45C13E-970B-4E0F-A441-208C9CA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5148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把本轮对话写回 SQLite 并刷新侧栏。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8AD34-8868-4447-AA5E-FB57B81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6459200" cy="1733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BF71F6-3083-4837-994F-CF582B5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770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链路里的关键点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BE3A6C-AABF-4E7D-99AA-F7110F29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38950"/>
            <a:ext cx="14097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检索优先，生成兜底。先让系统知道应该看什么，再让模型负责把话说清楚，最后让会话真的能持续聊下去。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CF2C3D-F6E8-4C0E-BCC4-4D6557D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819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8E7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3CD9FB-6A68-43AC-8A30-38160E2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6009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先检索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D37F49-2DEF-4B41-A0B8-B89D1D5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5819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E0D6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814B76-2AE8-4248-959D-A0B2BA4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6009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再生成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9AD936-D24B-4176-80C1-A855E54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75819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8E7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21B864-F3A2-4972-A556-2EDB62C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76009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再保存</a:t>
            </a:r>
          </a:p>
        </p:txBody>
      </p:sp>
    </p:spTree>
    <p:extLst>
      <p:ext uri="{BB962C8B-B14F-4D97-AF65-F5344CB8AC3E}">
        <p14:creationId xmlns:p14="http://schemas.microsoft.com/office/powerpoint/2010/main" val="1106120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3AD36-B2DD-48CC-82D6-2FCEEA55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03 / 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1CE62-AEBA-4884-9359-5CCB8F0E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19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功能设计围绕学习体验来拼，</a:t>
            </a:r>
          </a:p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而不是围绕页面模块来堆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D1508-D2D3-4F3A-954B-D092A90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14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每个功能都服务于同一个目标：让算法学习这件事更像一个连续的对话过程。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CB44A-1BA5-45D8-8A68-027AB0B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429500" cy="1504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38DC5-A28C-4AAA-981F-0EF2CCC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BE0E6-8D29-4814-9F8D-F9B024F6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支持快捷问题填充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633CE-7ACD-4B4E-8326-A813A41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647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侧边栏直接放入 C++ 例题、简化解释、继续追问等入口。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D29F7-01C0-458B-AA0A-695546D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52800"/>
            <a:ext cx="7429500" cy="1504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DEACC-6D27-4FE0-92D8-185F3C10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814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897CD-49FF-467D-A6EA-267D1CE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4330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支持流式输出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F3B26-1D53-4B9B-8C71-4C12357F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05250"/>
            <a:ext cx="647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回答可以边生成边展示，交互体验更像真实聊天。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D5EDA-0CD2-46E0-9023-AA2DBAE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7429500" cy="1504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82AF6-B9C2-4995-874D-571C2A74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B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A1AC8-7686-450F-9229-C112B4B6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支持本地会话保存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0EF3E-2B2F-4CC9-A5A1-3E38CDBE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72150"/>
            <a:ext cx="647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刷新后还能看见历史会话，侧栏会显示最近记录和摘要。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6A918-0A22-4668-AD7F-97AEE7A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7429500" cy="1504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936C1-7E62-4870-B0D2-6ECD677D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483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D6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768EE-61B0-45ED-BF0E-66E7C39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支持本地知识检索 + 兜底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16A78-D4E9-4F3F-A54D-22FD74B3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72150"/>
            <a:ext cx="647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先切块做语义检索；如果模型不可用，仍能给出可用答案。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1CB44-8221-438A-A2DA-96B9DAD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77100"/>
            <a:ext cx="1645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221F"/>
          </a:solidFill>
          <a:ln xmlns:a="http://schemas.openxmlformats.org/drawingml/2006/main" w="9525">
            <a:solidFill>
              <a:srgbClr val="294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2521A-8EF4-4D25-A2D1-96DE0C3C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438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CCAB9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9CCAB9"/>
                </a:solidFill>
                <a:latin typeface="Consolas"/>
                <a:ea typeface="Consolas"/>
                <a:cs typeface="Consolas"/>
              </a:rPr>
              <a:t>最终效果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2E049-EC48-43D4-8CB8-CA1C772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886700"/>
            <a:ext cx="1428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不是一个孤立的聊天框，而是一个能“问 - 查 - 答 - 存 - 续问”的算法学习工作台。</a:t>
            </a:r>
          </a:p>
        </p:txBody>
      </p:sp>
    </p:spTree>
    <p:extLst>
      <p:ext uri="{BB962C8B-B14F-4D97-AF65-F5344CB8AC3E}">
        <p14:creationId xmlns:p14="http://schemas.microsoft.com/office/powerpoint/2010/main" val="1248569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1AA805-20C8-42F9-A541-640D732E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04 /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63B88-BF36-42BA-BE17-33E547D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19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前端、编排层、知识层，</a:t>
            </a:r>
          </a:p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各自只做一件事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0E65C-51AF-4661-8EA4-A7D15B5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14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把职责拆开后，代码更清楚，排查问题也更快。FastAPI 管接口，retriever 管检索，sessions 管持久化。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B36EF-972A-4CFD-9E8B-96F296C5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668000" cy="1295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E7127-4B94-4B3E-96DD-66E0BF5E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8382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2126E-DCB1-454C-833F-F6E1BC0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F115C-848E-460E-8848-BCB4C56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195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0211F"/>
                </a:solidFill>
                <a:latin typeface="Consolas"/>
                <a:ea typeface="Consolas"/>
                <a:cs typeface="Consolas"/>
              </a:rPr>
              <a:t>static/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6F0F1-6DC0-488F-9FCE-0D0C6588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81450"/>
            <a:ext cx="752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聊天界面、快捷问题、会话列表、流式消息渲染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41569-7748-420A-9B70-72FD870B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668000" cy="1295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F2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5A286-8AC1-4AD5-AB54-C17B7662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8382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4DB0F-D326-4AFE-9C14-892C546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6735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编排层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09C1D-5DF8-4F3F-B676-3F7679AE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3875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0211F"/>
                </a:solidFill>
                <a:latin typeface="Consolas"/>
                <a:ea typeface="Consolas"/>
                <a:cs typeface="Consolas"/>
              </a:rPr>
              <a:t>app.py + agent/chain.py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E0DB3-AF00-4753-AA10-875A0807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00700"/>
            <a:ext cx="752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FastAPI 接口、模型调用、SSE 流、状态检查、消息拼装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D714-FD8E-4230-905A-BFC5B2B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29400"/>
            <a:ext cx="10668000" cy="1295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3E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EDDA2-26C8-479B-A838-11B00EC7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15150"/>
            <a:ext cx="8382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E756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A8221-3797-435D-8B19-A68203C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8660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知识与存储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95CF2-7173-4329-AC87-9C4A6709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8580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0211F"/>
                </a:solidFill>
                <a:latin typeface="Consolas"/>
                <a:ea typeface="Consolas"/>
                <a:cs typeface="Consolas"/>
              </a:rPr>
              <a:t>retriever.py + sessions.py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7327E-B1D7-413C-83D4-A6108B93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219950"/>
            <a:ext cx="752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Sentence Transformers、FAISS、SQLite、旧 JSON 导入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D97B1-6088-467D-A0F3-A7F2D3D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90900"/>
            <a:ext cx="5029200" cy="4533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B1A"/>
          </a:solidFill>
          <a:ln xmlns:a="http://schemas.openxmlformats.org/drawingml/2006/main" w="9525">
            <a:solidFill>
              <a:srgbClr val="2A4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12626-C64A-4642-840C-9D40528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6766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9C7B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9C7BB"/>
                </a:solidFill>
                <a:latin typeface="Consolas"/>
                <a:ea typeface="Consolas"/>
                <a:cs typeface="Consolas"/>
              </a:rPr>
              <a:t>模块边界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EBD37-4263-4688-B2C0-EB3E252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000500"/>
            <a:ext cx="400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F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2F7F4"/>
                </a:solidFill>
                <a:latin typeface="Microsoft YaHei"/>
                <a:ea typeface="Microsoft YaHei"/>
                <a:cs typeface="Microsoft YaHei"/>
              </a:rPr>
              <a:t>FastAPI / SSE / status / sessions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C78E1-A675-4057-B21B-2C95D74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953000"/>
            <a:ext cx="4381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2638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384AE-324E-491C-BFE2-9D5FE2E6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114925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D64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DFB4F-47A2-4C0A-99A9-9216FB33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0482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AF4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AF4EF"/>
                </a:solidFill>
                <a:latin typeface="Microsoft YaHei"/>
                <a:ea typeface="Microsoft YaHei"/>
                <a:cs typeface="Microsoft YaHei"/>
              </a:rPr>
              <a:t>前端只负责呈现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620C5-9582-4048-849F-B95E859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867400"/>
            <a:ext cx="4381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2638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E4FDB-A062-4C8E-8A91-C9AE4EA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029325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A5268-770F-4599-A32D-BF230D2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9626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AF4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AF4EF"/>
                </a:solidFill>
                <a:latin typeface="Microsoft YaHei"/>
                <a:ea typeface="Microsoft YaHei"/>
                <a:cs typeface="Microsoft YaHei"/>
              </a:rPr>
              <a:t>编排层只负责调用链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181AA-05B9-4C5A-B74E-1DD2FC4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781800"/>
            <a:ext cx="4381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2638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BBB23-E43B-434F-9F6E-3241607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943725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63015-6DF0-462F-8447-3B51988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68770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AF4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AF4EF"/>
                </a:solidFill>
                <a:latin typeface="Microsoft YaHei"/>
                <a:ea typeface="Microsoft YaHei"/>
                <a:cs typeface="Microsoft YaHei"/>
              </a:rPr>
              <a:t>知识层只负责找内容</a:t>
            </a:r>
          </a:p>
        </p:txBody>
      </p:sp>
    </p:spTree>
    <p:extLst>
      <p:ext uri="{BB962C8B-B14F-4D97-AF65-F5344CB8AC3E}">
        <p14:creationId xmlns:p14="http://schemas.microsoft.com/office/powerpoint/2010/main" val="1079582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F9AC0-C227-46C1-9BB9-4CBABBA0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05 / 亮点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808E3-06D3-4BDE-A25D-E24561A3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19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我重点处理的 4 个工程细节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AD27D-D980-433F-878F-2EFEE1C9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14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这些点不是炫技，而是保证这个原型在答辩演示时真能用、用得稳。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DC3CC-CE88-4A9B-B1A4-2C274A9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514600" cy="104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F1EC8-3001-4F33-9B43-6DC93AF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C454D-C41E-45D0-843D-C4ED2A0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最近上下文消息数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90674-6CEE-4739-96D8-270BB36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2514600" cy="104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603D6-5EDD-4128-97AF-E5B8352E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528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60s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80565-5169-452B-A909-2ADAEACF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957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模型请求超时时间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37261-D3C4-403E-987B-3103679A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514600" cy="104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241FB-0461-43B6-B3D6-4366070B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3000ms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84BAD-3744-4F6C-8A6E-AE5D234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957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SQLite 等待时间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C127B-5F4F-47FC-9B49-55C7C973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514600" cy="104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32F69-FDBA-4888-82FA-6477431D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FAISS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093D9-7C4F-4D4F-852C-5DA98D3D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语义检索索引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A63C8-E03B-4511-A86E-AE969A56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12395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0DE3A-5250-4C8B-9F5E-3E9F0A02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D5D0D-FFDE-4E0D-8F99-96D3C553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2442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A1D9A-64E2-4E70-B60A-B3B5F703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006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语义检索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695BF-57C2-4AA6-9547-90CCA6C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05400"/>
            <a:ext cx="914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先切块，再编码成向量，最后用 FAISS 做相似度搜索。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E85D8-3865-46F0-93F4-24FDAD44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12395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0824F-8F94-4678-B2B5-C166324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57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EC7BC-18B8-49EE-901D-D56E507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F34B8-C9BD-45FA-AAAD-1CEE60E0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0007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流式输出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48EA0-8C2E-44AC-8677-B368E9EB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05550"/>
            <a:ext cx="914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/api/chat/stream 通过 SSE 把回答逐段返回。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60A75-B4CB-4781-990D-372CCCB7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112395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7BC59-80E8-47C4-824F-5492526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258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B6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B579E-3117-41F0-8731-511C03FD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32472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47025-E7B5-4FD6-AED8-4E1008A4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2009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兜底机制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035E0-0CD5-4D08-83F4-C40BC4EC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505700"/>
            <a:ext cx="914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外部模型失败或超时，系统自动退回本地回答。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22909-6272-4225-BEC9-331CD8D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29150"/>
            <a:ext cx="4857750" cy="409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B1A"/>
          </a:solidFill>
          <a:ln xmlns:a="http://schemas.openxmlformats.org/drawingml/2006/main" w="9525">
            <a:solidFill>
              <a:srgbClr val="2942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D2D6A8-5F90-489F-B269-D83C8125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895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CCAB9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9CCAB9"/>
                </a:solidFill>
                <a:latin typeface="Consolas"/>
                <a:ea typeface="Consolas"/>
                <a:cs typeface="Consolas"/>
              </a:rPr>
              <a:t>稳定性优化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942449-BD19-46BA-B473-01CAD0E9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219700"/>
            <a:ext cx="4095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前端加单请求锁，后端给 SQLite busy_timeout，并保留旧 JSON 的自动导入逻辑。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3311D-8763-4C97-8C1F-D76CBD42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76275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8E7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905664-650F-4E5E-B2CA-79C963C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7818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请求锁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0A5786-15BD-4C93-8C22-6C32B725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762750"/>
            <a:ext cx="1047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9525">
            <a:solidFill>
              <a:srgbClr val="E0D6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531FD6-F4C3-4CB3-8ED8-244A07FC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78180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busy_timeout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157C7E-BD81-47A9-9951-087A79E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76275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C8E7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9723A6-EEE8-4D4E-800D-5AFE46D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7818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旧数据导入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0E7A3C-CEDC-4C27-897A-4711EBA6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334250"/>
            <a:ext cx="4000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7E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7E7E0"/>
                </a:solidFill>
                <a:latin typeface="Microsoft YaHei"/>
                <a:ea typeface="Microsoft YaHei"/>
                <a:cs typeface="Microsoft YaHei"/>
              </a:rPr>
              <a:t>答辩时我会强调：这里追求的是“真能用、用得稳”，而不是只把 demo 做得好看。</a:t>
            </a:r>
          </a:p>
        </p:txBody>
      </p:sp>
    </p:spTree>
    <p:extLst>
      <p:ext uri="{BB962C8B-B14F-4D97-AF65-F5344CB8AC3E}">
        <p14:creationId xmlns:p14="http://schemas.microsoft.com/office/powerpoint/2010/main" val="580544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ACE669-9D76-47A3-AD29-9947BC5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06 / 演示与收束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59127-F953-4645-894B-5193DF19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1219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答辩时我会这样演示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9B1B1-2BCC-4707-89E0-A00511F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14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先把流程跑通，再把工程细节讲明白，最后落到这个项目到底解决了什么问题。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B38C2-632D-4508-BD70-0ACB3E0B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3429000" cy="198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F744A-593D-426E-89E9-727FC39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2CEF4-FB6E-4976-A536-D72D280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BE56B-4FD4-44FD-842F-955011C6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814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输入一个算法问题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89DF2-A84E-452A-90C8-0713E6D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2933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比如动态规划、图论或前缀和。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9619E-31BD-4081-B2E4-8AB3E80D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3429000" cy="198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968B7-E779-46BE-8D3F-1100AA74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DB6E8-DF33-445A-9F77-8CE78FB3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C5FF9-99FF-4B0F-B76E-382568E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侧栏选一个历史会话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BC5AD-1C6C-4632-AA8A-C7F6731E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2933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刷新后依然能续聊，历史不会丢。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5354D-F2B1-40BF-A02F-0D3DEE5B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3429000" cy="198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2D40A-B39F-45BA-A769-5E9417E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9A53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AEA9C-53B2-447F-8121-A3FB9C89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78723-74B4-4806-AAF3-0300E45A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814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观察流式返回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E4527-7A91-4116-B366-62EB029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24350"/>
            <a:ext cx="2933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能看到生成过程和知识库命中状态。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7FFB3-7351-4E04-B5D0-5646B789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314700"/>
            <a:ext cx="3429000" cy="198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637DE-A1CA-41F4-80E6-A838162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562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8E7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2F83F-115F-457B-A0F5-DE8EDDC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6385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5FBDD-6A40-41E3-9520-DF2DB1B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5814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追问并切换话题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50DE8-3937-4315-A934-266D59E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324350"/>
            <a:ext cx="2933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16C"/>
                </a:solidFill>
                <a:latin typeface="Microsoft YaHei"/>
                <a:ea typeface="Microsoft YaHei"/>
                <a:cs typeface="Microsoft YaHei"/>
              </a:rPr>
              <a:t>验证上下文和兜底逻辑是否正常。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4CB9B-D685-4C31-B05E-E2ACB50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858500" cy="2647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211E"/>
          </a:solidFill>
          <a:ln xmlns:a="http://schemas.openxmlformats.org/drawingml/2006/main" w="9525">
            <a:solidFill>
              <a:srgbClr val="2842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3BAB7-4AC6-49FB-822C-A7996B0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960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FC8B9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9FC8B9"/>
                </a:solidFill>
                <a:latin typeface="Consolas"/>
                <a:ea typeface="Consolas"/>
                <a:cs typeface="Consolas"/>
              </a:rPr>
              <a:t>可以继续扩展的方向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DD660-7386-4301-A6E5-5922E4B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20002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0E8"/>
          </a:solidFill>
          <a:ln xmlns:a="http://schemas.openxmlformats.org/drawingml/2006/main" w="9525">
            <a:solidFill>
              <a:srgbClr val="C2DC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26F71-65A9-4E37-9902-B922462B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913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多知识库切换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827C0-18A3-41D3-985E-0498874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572250"/>
            <a:ext cx="20002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E7D6"/>
          </a:solidFill>
          <a:ln xmlns:a="http://schemas.openxmlformats.org/drawingml/2006/main" w="9525">
            <a:solidFill>
              <a:srgbClr val="E6D3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6157D-EF70-4612-87B6-080D761A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5913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更长的长期记忆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0B302-DDCD-4810-8688-6675642D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20002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0E8"/>
          </a:solidFill>
          <a:ln xmlns:a="http://schemas.openxmlformats.org/drawingml/2006/main" w="9525">
            <a:solidFill>
              <a:srgbClr val="C2DC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F8AD2-44E7-4A5F-834F-2AEA8E45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913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5D4E"/>
                </a:solidFill>
                <a:latin typeface="Microsoft YaHei"/>
                <a:ea typeface="Microsoft YaHei"/>
                <a:cs typeface="Microsoft YaHei"/>
              </a:rPr>
              <a:t>检索效果评估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06C72-B08A-4E1C-ACC2-5A64EAA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572250"/>
            <a:ext cx="20002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E7D6"/>
          </a:solidFill>
          <a:ln xmlns:a="http://schemas.openxmlformats.org/drawingml/2006/main" w="9525">
            <a:solidFill>
              <a:srgbClr val="E6D3B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FFDA1-76EE-4275-B30D-6B7A9702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5913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权限与日志审计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DF185-E19C-4EA8-AC3A-C1CEAB0C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34250"/>
            <a:ext cx="9334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7E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D7E9E2"/>
                </a:solidFill>
                <a:latin typeface="Microsoft YaHei"/>
                <a:ea typeface="Microsoft YaHei"/>
                <a:cs typeface="Microsoft YaHei"/>
              </a:rPr>
              <a:t>当前版本已经把最核心的“问 - 查 - 答 - 存”闭环跑通，后续就是把它做得更准、更稳、更可扩展。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CCE28B-CEDD-4B45-A971-B16DBACE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29300"/>
            <a:ext cx="5276850" cy="2647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3C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203229-CC80-4056-82A6-210F3E23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960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A8E72"/>
                </a:solidFill>
                <a:latin typeface="Consolas"/>
                <a:ea typeface="Consolas"/>
                <a:cs typeface="Consolas"/>
              </a:rPr>
              <a:t>答辩收束句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12F1EF-2750-4CBB-9415-03CB36C8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96050"/>
            <a:ext cx="45339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11F"/>
                </a:solidFill>
                <a:latin typeface="Microsoft YaHei"/>
                <a:ea typeface="Microsoft YaHei"/>
                <a:cs typeface="Microsoft YaHei"/>
              </a:rPr>
              <a:t>AlgoGuide Agent 已经不是单纯的聊天页面，而是一个面向算法学习场景、具备检索、生成、保存和兜底能力的完整原型。</a:t>
            </a:r>
          </a:p>
        </p:txBody>
      </p:sp>
    </p:spTree>
    <p:extLst>
      <p:ext uri="{BB962C8B-B14F-4D97-AF65-F5344CB8AC3E}">
        <p14:creationId xmlns:p14="http://schemas.microsoft.com/office/powerpoint/2010/main" val="1883875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2026-05-11T09:44:28.6400000Z</dcterms:created>
  <dcterms:modified xsi:type="dcterms:W3CDTF">2026-05-11T09:44:28.6400000Z</dcterms:modified>
</coreProperties>
</file>